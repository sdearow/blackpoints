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64" r:id="rId4"/>
    <p:sldId id="258" r:id="rId5"/>
    <p:sldId id="265" r:id="rId6"/>
    <p:sldId id="266" r:id="rId7"/>
    <p:sldId id="267" r:id="rId8"/>
    <p:sldId id="269" r:id="rId9"/>
    <p:sldId id="270" r:id="rId10"/>
    <p:sldId id="260" r:id="rId11"/>
    <p:sldId id="261" r:id="rId12"/>
    <p:sldId id="268" r:id="rId13"/>
    <p:sldId id="271" r:id="rId14"/>
    <p:sldId id="272" r:id="rId15"/>
    <p:sldId id="259" r:id="rId16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277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360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30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738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25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8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00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71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7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1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3544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6C41E-0291-49AE-B513-D8F3BEC08122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65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oleObject" Target="../embeddings/oleObject1.bin"/><Relationship Id="rId4" Type="http://schemas.openxmlformats.org/officeDocument/2006/relationships/image" Target="../media/image12.emf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oleObject" Target="../embeddings/oleObject1.bin"/><Relationship Id="rId4" Type="http://schemas.openxmlformats.org/officeDocument/2006/relationships/image" Target="../media/image12.emf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oleObject" Target="../embeddings/oleObject1.bin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tonda angolo diagonale rettangolo 6">
            <a:extLst>
              <a:ext uri="{FF2B5EF4-FFF2-40B4-BE49-F238E27FC236}">
                <a16:creationId xmlns:a16="http://schemas.microsoft.com/office/drawing/2014/main" id="{43E217BF-0E04-6073-4BCB-F9272CB2E83D}"/>
              </a:ext>
            </a:extLst>
          </p:cNvPr>
          <p:cNvSpPr/>
          <p:nvPr/>
        </p:nvSpPr>
        <p:spPr>
          <a:xfrm>
            <a:off x="807366" y="744223"/>
            <a:ext cx="11186868" cy="57927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906" y="21600"/>
                  <a:pt x="2005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694" y="0"/>
                  <a:pt x="1550" y="0"/>
                </a:cubicBezTo>
                <a:close/>
              </a:path>
            </a:pathLst>
          </a:custGeom>
          <a:solidFill>
            <a:srgbClr val="800000"/>
          </a:solidFill>
          <a:ln w="12700">
            <a:miter lim="400000"/>
          </a:ln>
          <a:effectLst>
            <a:outerShdw blurRad="50800" dist="25400" dir="5400000" rotWithShape="0">
              <a:srgbClr val="595959">
                <a:alpha val="34999"/>
              </a:srgbClr>
            </a:outerShdw>
          </a:effectLst>
        </p:spPr>
        <p:txBody>
          <a:bodyPr lIns="22958" tIns="22958" rIns="22958" bIns="22958" anchor="ctr"/>
          <a:lstStyle/>
          <a:p>
            <a:endParaRPr sz="317"/>
          </a:p>
        </p:txBody>
      </p:sp>
      <p:grpSp>
        <p:nvGrpSpPr>
          <p:cNvPr id="23" name="Rettangolo 9">
            <a:extLst>
              <a:ext uri="{FF2B5EF4-FFF2-40B4-BE49-F238E27FC236}">
                <a16:creationId xmlns:a16="http://schemas.microsoft.com/office/drawing/2014/main" id="{1CDEA274-DD48-E2D8-89B4-9380607D38DA}"/>
              </a:ext>
            </a:extLst>
          </p:cNvPr>
          <p:cNvGrpSpPr/>
          <p:nvPr/>
        </p:nvGrpSpPr>
        <p:grpSpPr>
          <a:xfrm>
            <a:off x="1057194" y="5930324"/>
            <a:ext cx="1715689" cy="312451"/>
            <a:chOff x="-1" y="0"/>
            <a:chExt cx="4881041" cy="888906"/>
          </a:xfrm>
        </p:grpSpPr>
        <p:sp>
          <p:nvSpPr>
            <p:cNvPr id="24" name="Rettangolo">
              <a:extLst>
                <a:ext uri="{FF2B5EF4-FFF2-40B4-BE49-F238E27FC236}">
                  <a16:creationId xmlns:a16="http://schemas.microsoft.com/office/drawing/2014/main" id="{BABB2062-3773-5B21-E7A8-6FA9B99CA65B}"/>
                </a:ext>
              </a:extLst>
            </p:cNvPr>
            <p:cNvSpPr/>
            <p:nvPr/>
          </p:nvSpPr>
          <p:spPr>
            <a:xfrm>
              <a:off x="-1" y="0"/>
              <a:ext cx="4881041" cy="88890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2958" tIns="22958" rIns="22958" bIns="22958" numCol="1" anchor="ctr">
              <a:noAutofit/>
            </a:bodyPr>
            <a:lstStyle/>
            <a:p>
              <a:pPr algn="ctr">
                <a:defRPr>
                  <a:solidFill>
                    <a:srgbClr val="8000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endParaRPr sz="317" dirty="0"/>
            </a:p>
          </p:txBody>
        </p:sp>
        <p:sp>
          <p:nvSpPr>
            <p:cNvPr id="25" name="Roma, 2018">
              <a:extLst>
                <a:ext uri="{FF2B5EF4-FFF2-40B4-BE49-F238E27FC236}">
                  <a16:creationId xmlns:a16="http://schemas.microsoft.com/office/drawing/2014/main" id="{DD03D9A7-1DB9-7FC1-8A3F-66E0C5309742}"/>
                </a:ext>
              </a:extLst>
            </p:cNvPr>
            <p:cNvSpPr/>
            <p:nvPr/>
          </p:nvSpPr>
          <p:spPr>
            <a:xfrm>
              <a:off x="-1" y="121209"/>
              <a:ext cx="4881039" cy="6464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2141" tIns="32141" rIns="32141" bIns="32141" numCol="1" anchor="ctr">
              <a:noAutofit/>
            </a:bodyPr>
            <a:lstStyle>
              <a:lvl1pPr algn="ctr">
                <a:defRPr sz="3000" b="1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it-IT" sz="1500" dirty="0"/>
                <a:t>25/03/2026</a:t>
              </a:r>
              <a:endParaRPr sz="1500" dirty="0"/>
            </a:p>
          </p:txBody>
        </p:sp>
      </p:grpSp>
      <p:sp>
        <p:nvSpPr>
          <p:cNvPr id="26" name="CasellaDiTesto 4">
            <a:extLst>
              <a:ext uri="{FF2B5EF4-FFF2-40B4-BE49-F238E27FC236}">
                <a16:creationId xmlns:a16="http://schemas.microsoft.com/office/drawing/2014/main" id="{60333941-04C5-CCBE-2BAB-A47227EB42CB}"/>
              </a:ext>
            </a:extLst>
          </p:cNvPr>
          <p:cNvSpPr/>
          <p:nvPr/>
        </p:nvSpPr>
        <p:spPr>
          <a:xfrm>
            <a:off x="1387333" y="2815487"/>
            <a:ext cx="9943974" cy="1334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tIns="32141" bIns="32141">
            <a:spAutoFit/>
          </a:bodyPr>
          <a:lstStyle/>
          <a:p>
            <a:r>
              <a:rPr lang="it-IT" sz="4124" b="1" dirty="0">
                <a:solidFill>
                  <a:schemeClr val="bg1"/>
                </a:solidFill>
              </a:rPr>
              <a:t>Sistema di Identificazione dei Black Point Incidentali di Roma</a:t>
            </a:r>
          </a:p>
        </p:txBody>
      </p:sp>
      <p:pic>
        <p:nvPicPr>
          <p:cNvPr id="27" name="Immagine 8" descr="Immagine 8">
            <a:extLst>
              <a:ext uri="{FF2B5EF4-FFF2-40B4-BE49-F238E27FC236}">
                <a16:creationId xmlns:a16="http://schemas.microsoft.com/office/drawing/2014/main" id="{877D6292-A7B8-AFD4-4346-B30FAAE6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Linee_Grigie-02.png" descr="Linee_Grigie-02.png">
            <a:extLst>
              <a:ext uri="{FF2B5EF4-FFF2-40B4-BE49-F238E27FC236}">
                <a16:creationId xmlns:a16="http://schemas.microsoft.com/office/drawing/2014/main" id="{07BD3596-438C-BF26-FD06-DCD60317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292" y="8998289"/>
            <a:ext cx="4363012" cy="32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Skyline-03.png" descr="Skyline-03.png">
            <a:extLst>
              <a:ext uri="{FF2B5EF4-FFF2-40B4-BE49-F238E27FC236}">
                <a16:creationId xmlns:a16="http://schemas.microsoft.com/office/drawing/2014/main" id="{7C2E1C8B-3514-ABA5-11AF-BE59191F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472163"/>
            <a:ext cx="6098821" cy="16407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Logo_500x500.png" descr="Logo_500x500.png">
            <a:extLst>
              <a:ext uri="{FF2B5EF4-FFF2-40B4-BE49-F238E27FC236}">
                <a16:creationId xmlns:a16="http://schemas.microsoft.com/office/drawing/2014/main" id="{6493F174-55DB-E78B-DBDF-9BB3D3301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97" y="7885396"/>
            <a:ext cx="1273593" cy="127359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5194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822613-9920-6706-E321-5FC55C877ED3}"/>
              </a:ext>
            </a:extLst>
          </p:cNvPr>
          <p:cNvSpPr txBox="1"/>
          <p:nvPr/>
        </p:nvSpPr>
        <p:spPr>
          <a:xfrm>
            <a:off x="758365" y="1805529"/>
            <a:ext cx="11284869" cy="579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0">
                <a:solidFill>
                  <a:srgbClr val="303030"/>
                </a:solidFill>
                <a:latin typeface="Helvetica"/>
              </a:rPr>
              <a:t>Contare gli incidenti non basta: un incrocio può registrare molti sinistri un anno e pochi l'anno dopo, senza che nulla sia cambiato fisicamente. Questo fenomeno, noto come «regressione verso la media», porta a sprecare risorse su siti che non sono realmente pericolosi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0">
                <a:solidFill>
                  <a:srgbClr val="303030"/>
                </a:solidFill>
                <a:latin typeface="Helvetica"/>
              </a:rPr>
              <a:t>Il metodo tradizionale non tiene conto del contesto: strade con più traffico avranno naturalmente più incidenti, ma questo non significa che siano mal progettate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0">
                <a:solidFill>
                  <a:srgbClr val="303030"/>
                </a:solidFill>
                <a:latin typeface="Helvetica"/>
              </a:rPr>
              <a:t>Servono strumenti scientifici per separare la pericolosità reale dal rumore statistico e indirizzare gli investimenti dove avranno il massimo impatto sulla sicurezza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0">
                <a:solidFill>
                  <a:srgbClr val="303030"/>
                </a:solidFill>
                <a:latin typeface="Helvetica"/>
              </a:rPr>
              <a:t>Il Sistema Black Point applica la metodologia raccomandata dall'Highway Safety Manual (AASHTO) e adottata dai programmi europei Vision Zero e Safe System per rispondere a una domanda precisa: dove intervenire prima?</a:t>
            </a:r>
          </a:p>
        </p:txBody>
      </p:sp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A03E293F-96F3-F742-AA81-8395AD0C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DCC6AC-F739-1844-8B22-6276178B7986}"/>
              </a:ext>
            </a:extLst>
          </p:cNvPr>
          <p:cNvSpPr txBox="1"/>
          <p:nvPr/>
        </p:nvSpPr>
        <p:spPr>
          <a:xfrm>
            <a:off x="484495" y="709344"/>
            <a:ext cx="11284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Perché Serve Questo Strumento?</a:t>
            </a:r>
          </a:p>
        </p:txBody>
      </p:sp>
    </p:spTree>
    <p:extLst>
      <p:ext uri="{BB962C8B-B14F-4D97-AF65-F5344CB8AC3E}">
        <p14:creationId xmlns:p14="http://schemas.microsoft.com/office/powerpoint/2010/main" val="323636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E1C9-2861-D48A-D56D-CA06FD4C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C8BEBCD3-0388-E31C-7EE0-88E011574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F9B9195-87B8-BF8C-357B-3F7A8CE53BDE}"/>
              </a:ext>
            </a:extLst>
          </p:cNvPr>
          <p:cNvSpPr txBox="1"/>
          <p:nvPr/>
        </p:nvSpPr>
        <p:spPr>
          <a:xfrm>
            <a:off x="484495" y="709344"/>
            <a:ext cx="11284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L'Obiettivo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51EFB5-750D-859B-2836-833448C155C4}"/>
              </a:ext>
            </a:extLst>
          </p:cNvPr>
          <p:cNvSpPr txBox="1"/>
          <p:nvPr/>
        </p:nvSpPr>
        <p:spPr>
          <a:xfrm>
            <a:off x="1016757" y="1775053"/>
            <a:ext cx="10752605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Helvetica"/>
              </a:rPr>
              <a:t>Costruire una classifica oggettiva dei siti più pericolosi della rete stradale di Roma, basata su evidenze statistiche e non su semplici conteggi</a:t>
            </a:r>
            <a:endParaRPr lang="it-IT" sz="24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Helvetica"/>
              </a:rPr>
              <a:t>Stimare il livello di rischio reale di ogni segmento stradale e intersezione, al netto delle fluttuazioni casuali</a:t>
            </a:r>
            <a:endParaRPr lang="it-IT" sz="24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Helvetica"/>
              </a:rPr>
              <a:t>Valutare ogni sito su quattro dimensioni: frequenza, gravità degli incidenti, coinvolgimento di utenti vulnerabili e condizioni di velocità</a:t>
            </a:r>
            <a:endParaRPr lang="it-IT" sz="24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Helvetica"/>
              </a:rPr>
              <a:t>Fornire uno strumento interattivo per esplorare i risultati, confrontare scenari e programmare gli interventi dove il beneficio atteso è massimo</a:t>
            </a:r>
            <a:endParaRPr lang="it-IT" sz="24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53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DC6D5-635C-8D17-8A1B-9EB6F64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A300708D-D2B9-CE20-2A17-EF2308413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454505A-E04B-BC27-242B-88267D5ABF96}"/>
              </a:ext>
            </a:extLst>
          </p:cNvPr>
          <p:cNvSpPr txBox="1"/>
          <p:nvPr/>
        </p:nvSpPr>
        <p:spPr>
          <a:xfrm>
            <a:off x="668739" y="1091820"/>
            <a:ext cx="11682485" cy="1006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sz="2500" b="0">
                <a:latin typeface="Helvetica"/>
              </a:rPr>
              <a:t>Il sistema trasforma dati eterogenei in una classifica operativa attraverso cinque fasi automatizzate: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6A700DE-54D2-F2DB-D82B-E642CFC1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3" y="2262536"/>
            <a:ext cx="11868311" cy="531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6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20D2-AC4F-59C5-9DE6-2FB3DE99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640E9844-2DC2-1C48-3179-DC97FC85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99170D0-842A-6D90-5B11-1943439BA316}"/>
              </a:ext>
            </a:extLst>
          </p:cNvPr>
          <p:cNvSpPr txBox="1"/>
          <p:nvPr/>
        </p:nvSpPr>
        <p:spPr>
          <a:xfrm>
            <a:off x="736978" y="1651379"/>
            <a:ext cx="11518712" cy="463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Database incidenti del Comune (2010-2024): localizzazione, data, gravità, tipologia di veicoli coinvolti, eventuale coinvolgimento di pedoni e ciclisti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Dati di traffico TomTom: volumi giornalieri (TGM) e distribuzioni di velocità reali per ogni arco della rete stradale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Classificazione funzionale PGTU 2026: la gerarchia aggiornata delle strade romane (Scorrimento, Interquartiere, Quartiere, Interzonale, Locale, Extraurbana)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Catasto dei semafori: per distinguere le intersezioni semaforizzate da quelle prive di regolazione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A456BA-6220-7D73-1558-7124F087EE8F}"/>
              </a:ext>
            </a:extLst>
          </p:cNvPr>
          <p:cNvSpPr txBox="1"/>
          <p:nvPr/>
        </p:nvSpPr>
        <p:spPr>
          <a:xfrm>
            <a:off x="859808" y="856329"/>
            <a:ext cx="10658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I Dati che Alimentano il Sistema</a:t>
            </a:r>
          </a:p>
        </p:txBody>
      </p:sp>
    </p:spTree>
    <p:extLst>
      <p:ext uri="{BB962C8B-B14F-4D97-AF65-F5344CB8AC3E}">
        <p14:creationId xmlns:p14="http://schemas.microsoft.com/office/powerpoint/2010/main" val="364831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A5D27-1D68-2F25-81F3-CA5A0A15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09637AF4-1802-520B-4657-4438923B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FC6336-4ECD-48B9-CD9A-7EA7B6BCFC8F}"/>
              </a:ext>
            </a:extLst>
          </p:cNvPr>
          <p:cNvSpPr txBox="1"/>
          <p:nvPr/>
        </p:nvSpPr>
        <p:spPr>
          <a:xfrm>
            <a:off x="736978" y="1651379"/>
            <a:ext cx="11518712" cy="463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La rete viene suddivisa in unità analizzabili: segmenti stradali omogenei (tratti con traffico e caratteristiche uniformi) e intersezioni (nodi dove convergono almeno 3 strade)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Ogni incidente viene associato al sito più appropriato attraverso criteri di vicinanza geografica e corrispondenza del nome della via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Il risultato: per ciascun sito si dispone del conteggio degli incidenti, del volume di traffico, delle velocità, della categoria stradale e della presenza di semaforo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500" b="0">
                <a:latin typeface="Helvetica"/>
              </a:rPr>
              <a:t>La qualità di questa associazione è fondamentale: il sistema misura e riporta il tasso di abbinamento come indicatore di affidabilità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AF8F3B3-977B-4105-9D00-09FFDD82BFD5}"/>
              </a:ext>
            </a:extLst>
          </p:cNvPr>
          <p:cNvSpPr txBox="1"/>
          <p:nvPr/>
        </p:nvSpPr>
        <p:spPr>
          <a:xfrm>
            <a:off x="859808" y="856329"/>
            <a:ext cx="10658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Fase 1 — Costruire la Mappa dei Siti</a:t>
            </a:r>
          </a:p>
        </p:txBody>
      </p:sp>
    </p:spTree>
    <p:extLst>
      <p:ext uri="{BB962C8B-B14F-4D97-AF65-F5344CB8AC3E}">
        <p14:creationId xmlns:p14="http://schemas.microsoft.com/office/powerpoint/2010/main" val="296467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4F7D-E0A9-671D-6844-D4149DFF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12B87EEE-6EB8-F4DA-B6B2-C24D40D7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3CD4BC-3553-8C92-8265-F67E86ACE113}"/>
              </a:ext>
            </a:extLst>
          </p:cNvPr>
          <p:cNvSpPr txBox="1"/>
          <p:nvPr/>
        </p:nvSpPr>
        <p:spPr>
          <a:xfrm>
            <a:off x="859808" y="2224585"/>
            <a:ext cx="11518712" cy="3740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Per giudicare se un sito è pericoloso, serve un termine di paragone: quanti incidenti ci aspetteremmo su una strada con quel traffico, quella lunghezza, quella velocità?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Il sistema costruisce un modello statistico (Safety Performance Function) che risponde a questa domanda, calibrato separatamente per ogni categoria di strada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Due blocchi informativi alimentano il modello: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CC6BBC-1109-3DAE-2FC1-A6A044B9CF3E}"/>
              </a:ext>
            </a:extLst>
          </p:cNvPr>
          <p:cNvSpPr txBox="1"/>
          <p:nvPr/>
        </p:nvSpPr>
        <p:spPr>
          <a:xfrm>
            <a:off x="859808" y="856329"/>
            <a:ext cx="106589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Fase 2 — Quanti Incidenti Ci Aspettiamo?</a:t>
            </a:r>
            <a:endParaRPr lang="it-IT" sz="3200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E103AB8-913C-B21C-F5C3-C25E3644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57" y="5484848"/>
            <a:ext cx="8416625" cy="284028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BE68636-49D4-085B-BDF8-88CDC7BCA895}"/>
              </a:ext>
            </a:extLst>
          </p:cNvPr>
          <p:cNvSpPr txBox="1"/>
          <p:nvPr/>
        </p:nvSpPr>
        <p:spPr>
          <a:xfrm>
            <a:off x="4135272" y="6715544"/>
            <a:ext cx="165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Esposizione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A06C60-1284-922C-9C2A-1DC956EE648D}"/>
              </a:ext>
            </a:extLst>
          </p:cNvPr>
          <p:cNvSpPr txBox="1"/>
          <p:nvPr/>
        </p:nvSpPr>
        <p:spPr>
          <a:xfrm>
            <a:off x="5651222" y="6715544"/>
            <a:ext cx="29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Pericolosità</a:t>
            </a:r>
          </a:p>
        </p:txBody>
      </p:sp>
      <p:sp>
        <p:nvSpPr>
          <p:cNvPr id="11" name="Parentesi graffa aperta 10">
            <a:extLst>
              <a:ext uri="{FF2B5EF4-FFF2-40B4-BE49-F238E27FC236}">
                <a16:creationId xmlns:a16="http://schemas.microsoft.com/office/drawing/2014/main" id="{3C26C0E1-5CA7-A61D-0A4E-C74F3A2740BD}"/>
              </a:ext>
            </a:extLst>
          </p:cNvPr>
          <p:cNvSpPr/>
          <p:nvPr/>
        </p:nvSpPr>
        <p:spPr>
          <a:xfrm rot="16200000">
            <a:off x="4745589" y="6053627"/>
            <a:ext cx="266977" cy="1241946"/>
          </a:xfrm>
          <a:prstGeom prst="lef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graffa aperta 11">
            <a:extLst>
              <a:ext uri="{FF2B5EF4-FFF2-40B4-BE49-F238E27FC236}">
                <a16:creationId xmlns:a16="http://schemas.microsoft.com/office/drawing/2014/main" id="{B2B25CAF-7D74-A651-FB17-FE3256F1CC53}"/>
              </a:ext>
            </a:extLst>
          </p:cNvPr>
          <p:cNvSpPr/>
          <p:nvPr/>
        </p:nvSpPr>
        <p:spPr>
          <a:xfrm rot="16200000">
            <a:off x="6738161" y="5573810"/>
            <a:ext cx="266976" cy="2169991"/>
          </a:xfrm>
          <a:prstGeom prst="lef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328C155-6EA9-59F7-3540-1EFF754C9A69}"/>
              </a:ext>
            </a:extLst>
          </p:cNvPr>
          <p:cNvSpPr txBox="1"/>
          <p:nvPr/>
        </p:nvSpPr>
        <p:spPr>
          <a:xfrm>
            <a:off x="3739487" y="8299205"/>
            <a:ext cx="165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Esposizione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E3A688A-1BA5-8DC6-8E47-345BDDFE1161}"/>
              </a:ext>
            </a:extLst>
          </p:cNvPr>
          <p:cNvSpPr txBox="1"/>
          <p:nvPr/>
        </p:nvSpPr>
        <p:spPr>
          <a:xfrm>
            <a:off x="6039662" y="8281659"/>
            <a:ext cx="29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Pericolosità</a:t>
            </a:r>
          </a:p>
        </p:txBody>
      </p:sp>
      <p:sp>
        <p:nvSpPr>
          <p:cNvPr id="15" name="Parentesi graffa aperta 14">
            <a:extLst>
              <a:ext uri="{FF2B5EF4-FFF2-40B4-BE49-F238E27FC236}">
                <a16:creationId xmlns:a16="http://schemas.microsoft.com/office/drawing/2014/main" id="{CAB72779-27DC-3499-FC20-ED7E92B7249F}"/>
              </a:ext>
            </a:extLst>
          </p:cNvPr>
          <p:cNvSpPr/>
          <p:nvPr/>
        </p:nvSpPr>
        <p:spPr>
          <a:xfrm rot="16200000">
            <a:off x="4328259" y="7328233"/>
            <a:ext cx="159943" cy="1746914"/>
          </a:xfrm>
          <a:prstGeom prst="lef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Parentesi graffa aperta 15">
            <a:extLst>
              <a:ext uri="{FF2B5EF4-FFF2-40B4-BE49-F238E27FC236}">
                <a16:creationId xmlns:a16="http://schemas.microsoft.com/office/drawing/2014/main" id="{04917BCC-79F4-66BC-D15E-4427CF95BBB9}"/>
              </a:ext>
            </a:extLst>
          </p:cNvPr>
          <p:cNvSpPr/>
          <p:nvPr/>
        </p:nvSpPr>
        <p:spPr>
          <a:xfrm rot="16200000">
            <a:off x="7140698" y="6751880"/>
            <a:ext cx="219210" cy="2927298"/>
          </a:xfrm>
          <a:prstGeom prst="lef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974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D4ED4-3635-4E6F-D5E7-0973381C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9463125F-5104-A922-8823-3A3FED03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636B4D-A800-3159-C002-6B496BDA9D13}"/>
              </a:ext>
            </a:extLst>
          </p:cNvPr>
          <p:cNvSpPr txBox="1"/>
          <p:nvPr/>
        </p:nvSpPr>
        <p:spPr>
          <a:xfrm>
            <a:off x="859808" y="856329"/>
            <a:ext cx="10658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Fase 3 — Separare il Caso dalla Realtà</a:t>
            </a:r>
            <a:endParaRPr lang="it-IT" sz="3200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059413C-155E-5CF2-FF70-F5167177FE38}"/>
              </a:ext>
            </a:extLst>
          </p:cNvPr>
          <p:cNvSpPr txBox="1"/>
          <p:nvPr/>
        </p:nvSpPr>
        <p:spPr>
          <a:xfrm>
            <a:off x="859807" y="2375834"/>
            <a:ext cx="10959153" cy="556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Il metodo Empirical Bayes è lo standard internazionale per l'identificazione dei siti pericolosi (Highway Safety Manual, Vision Zero, Safe System Approach)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L'idea chiave: combinare ciò che osserviamo realmente (gli incidenti accaduti) con ciò che il modello prevede per siti con caratteristiche analoghe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Dove i dati sono abbondanti (molto traffico, tanti anni), il sistema si fida di più dell'osservato; dove i dati sono scarsi, si appoggia al modello per evitare conclusioni fuorvianti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0">
                <a:latin typeface="Helvetica"/>
              </a:rPr>
              <a:t>Il risultato è una stima «corretta» della pericolosità: l'eccesso rispetto all'atteso indica quanti incidenti in più avvengono rispetto a un sito medio equivalente — ed è questo eccesso che guida la classifica</a:t>
            </a:r>
          </a:p>
        </p:txBody>
      </p:sp>
    </p:spTree>
    <p:extLst>
      <p:ext uri="{BB962C8B-B14F-4D97-AF65-F5344CB8AC3E}">
        <p14:creationId xmlns:p14="http://schemas.microsoft.com/office/powerpoint/2010/main" val="298604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ABB1-919B-40F9-BBB1-D02F77C6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CF450C8B-45D6-BB3C-DEE4-9A75BD5B2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1A948B-8503-1DA1-960A-B48821940927}"/>
              </a:ext>
            </a:extLst>
          </p:cNvPr>
          <p:cNvSpPr txBox="1"/>
          <p:nvPr/>
        </p:nvSpPr>
        <p:spPr>
          <a:xfrm>
            <a:off x="859808" y="856329"/>
            <a:ext cx="10658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Fase 3 — Il Metodo Empirical Bayes</a:t>
            </a:r>
            <a:endParaRPr lang="it-IT" sz="3200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8C05BBD-5632-1892-7884-FA512B93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58" y="1673116"/>
            <a:ext cx="12185374" cy="57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1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E243-5F58-6B36-2352-D08CDC0D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14909574-E7FF-BDA2-ED69-1D60778B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F5BAFB-EA33-CC12-C707-1BE5702D293D}"/>
              </a:ext>
            </a:extLst>
          </p:cNvPr>
          <p:cNvSpPr txBox="1"/>
          <p:nvPr/>
        </p:nvSpPr>
        <p:spPr>
          <a:xfrm>
            <a:off x="443552" y="846010"/>
            <a:ext cx="12207923" cy="4597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C00000"/>
                </a:solidFill>
                <a:latin typeface="Helvetica"/>
              </a:rPr>
              <a:t>Fase 4 — Quattro Dimensioni del Rischio</a:t>
            </a:r>
          </a:p>
          <a:p>
            <a:pPr lvl="0"/>
            <a:r>
              <a:rPr sz="2400" b="0">
                <a:solidFill>
                  <a:srgbClr val="C00000"/>
                </a:solidFill>
                <a:latin typeface="Helvetica"/>
              </a:rPr>
              <a:t>Per ogni sito, il sistema valuta quattro aspetti complementari della pericolosità:</a:t>
            </a:r>
          </a:p>
          <a:p>
            <a:pPr lvl="1"/>
            <a:r>
              <a:rPr sz="2400" b="0">
                <a:solidFill>
                  <a:srgbClr val="C00000"/>
                </a:solidFill>
                <a:latin typeface="Helvetica"/>
              </a:rPr>
              <a:t>A. Eccesso di incidentalità: quanti incidenti in più rispetto a un sito equivalente? (Empirical Bayes)</a:t>
            </a:r>
          </a:p>
          <a:p>
            <a:pPr lvl="1"/>
            <a:r>
              <a:rPr sz="2400" b="0">
                <a:solidFill>
                  <a:srgbClr val="C00000"/>
                </a:solidFill>
                <a:latin typeface="Helvetica"/>
              </a:rPr>
              <a:t>B. Indice di severità: gli incidenti sono gravi? (rapporto tra mortali/feriti e totale incidenti)</a:t>
            </a:r>
          </a:p>
          <a:p>
            <a:pPr lvl="1"/>
            <a:r>
              <a:rPr sz="2400" b="0">
                <a:solidFill>
                  <a:srgbClr val="C00000"/>
                </a:solidFill>
                <a:latin typeface="Helvetica"/>
              </a:rPr>
              <a:t>C. Vulnerabilità utenti deboli: sono coinvolti pedoni e ciclisti?</a:t>
            </a:r>
          </a:p>
          <a:p>
            <a:pPr lvl="1"/>
            <a:r>
              <a:rPr sz="2400" b="0">
                <a:solidFill>
                  <a:srgbClr val="C00000"/>
                </a:solidFill>
                <a:latin typeface="Helvetica"/>
              </a:rPr>
              <a:t>D. Rischio velocità: le velocità dei veicoli sono pericolosamente disomogenee?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BF23FB8-58D2-2D4A-290A-9DB6D2C8B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70" y="5036308"/>
            <a:ext cx="6119390" cy="3718882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C761DC4-8E67-1632-DB10-6D549195BC24}"/>
              </a:ext>
            </a:extLst>
          </p:cNvPr>
          <p:cNvCxnSpPr/>
          <p:nvPr/>
        </p:nvCxnSpPr>
        <p:spPr>
          <a:xfrm flipH="1">
            <a:off x="7028597" y="6418689"/>
            <a:ext cx="518615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737CB21-D331-A7EC-00D5-8437E5FB2E4D}"/>
              </a:ext>
            </a:extLst>
          </p:cNvPr>
          <p:cNvSpPr txBox="1"/>
          <p:nvPr/>
        </p:nvSpPr>
        <p:spPr>
          <a:xfrm>
            <a:off x="7708388" y="6064746"/>
            <a:ext cx="46837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Helvetica"/>
              </a:rPr>
              <a:t>I pesi delle quattro dimensioni sono configurabili per adattare l'analisi a obiettivi specifici (es. priorità su utenti vulnerabili)</a:t>
            </a:r>
            <a:endParaRPr lang="it-IT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9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8BB0-329B-3707-1DB4-B49D3C7F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ED0F1C61-3AD8-75AD-1B6A-915E8C3D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464F95C-29C5-1DDE-DA73-ADF49F29E738}"/>
              </a:ext>
            </a:extLst>
          </p:cNvPr>
          <p:cNvSpPr txBox="1"/>
          <p:nvPr/>
        </p:nvSpPr>
        <p:spPr>
          <a:xfrm>
            <a:off x="593677" y="849536"/>
            <a:ext cx="11907671" cy="1712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Fase 4 — Classificare le Priorità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361A16-76F4-2058-B7CB-F742C3B0549C}"/>
              </a:ext>
            </a:extLst>
          </p:cNvPr>
          <p:cNvSpPr txBox="1"/>
          <p:nvPr/>
        </p:nvSpPr>
        <p:spPr>
          <a:xfrm>
            <a:off x="593677" y="1528118"/>
            <a:ext cx="11716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Helvetica"/>
              </a:rPr>
              <a:t>I siti vengono classificati in cinque fasce di priorità (da Monitoraggio ad Altissima) in base al loro indice composito, indicando l'urgenza dell'intervento:</a:t>
            </a:r>
            <a:endParaRPr lang="it-IT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387AF65-77BA-8E61-A0E7-4BD336C68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13" y="2359115"/>
            <a:ext cx="5534776" cy="272137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BC870D6-C33B-5E6B-8A45-3A1CA5044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917" y="5080490"/>
            <a:ext cx="7437765" cy="267485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5882E81-AD0F-B18D-62A2-10C55D80F6C7}"/>
              </a:ext>
            </a:extLst>
          </p:cNvPr>
          <p:cNvSpPr txBox="1"/>
          <p:nvPr/>
        </p:nvSpPr>
        <p:spPr>
          <a:xfrm>
            <a:off x="4458410" y="7882425"/>
            <a:ext cx="4683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Helvetica"/>
              </a:rPr>
              <a:t>Matrice di rischio: incrocia eccesso e severità per indirizzare il tipo di intervento</a:t>
            </a:r>
            <a:endParaRPr lang="it-IT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04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1B50-DD17-6B8C-3D9F-AE896F53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5AFBD5EA-A787-857E-387C-E9561F25B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B9C771A-7ACD-E63E-6081-499884E2F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2" y="1881776"/>
            <a:ext cx="11975975" cy="546021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11FA9D-D885-551F-03B0-73D5CAAAD2A1}"/>
              </a:ext>
            </a:extLst>
          </p:cNvPr>
          <p:cNvSpPr txBox="1"/>
          <p:nvPr/>
        </p:nvSpPr>
        <p:spPr>
          <a:xfrm>
            <a:off x="593677" y="849536"/>
            <a:ext cx="11907671" cy="143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La Dashboard: Mappa Interattiva dei Siti Critici</a:t>
            </a:r>
            <a:endParaRPr lang="it-IT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5EB8941-EEBC-772B-6046-D7C13008B445}"/>
              </a:ext>
            </a:extLst>
          </p:cNvPr>
          <p:cNvSpPr txBox="1"/>
          <p:nvPr/>
        </p:nvSpPr>
        <p:spPr>
          <a:xfrm>
            <a:off x="5345514" y="7475697"/>
            <a:ext cx="4683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Helvetica"/>
              </a:rPr>
              <a:t>Visualizzazione su mappa con gradiente colore in base all'eccesso di incidentalità • Filtri per tipo, categoria e metrica di ordinamento</a:t>
            </a:r>
            <a:endParaRPr lang="it-IT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553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BF289-23A4-C600-31C5-FB645120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4E815385-FC59-4F84-68E1-470494EA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9A00A226-E930-07AC-DE13-EA7588A40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8809729"/>
          <a:ext cx="12801600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6451913" imgH="970662" progId="Photoshop.Image.13">
                  <p:embed/>
                </p:oleObj>
              </mc:Choice>
              <mc:Fallback>
                <p:oleObj name="Image" r:id="rId3" imgW="16451913" imgH="970662" progId="Photoshop.Image.13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D6C04AFF-AB38-F0E0-D039-6C0846D92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8809729"/>
                        <a:ext cx="12801600" cy="754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705E2F-E330-94BE-7F26-EF3AA758D400}"/>
              </a:ext>
            </a:extLst>
          </p:cNvPr>
          <p:cNvSpPr txBox="1"/>
          <p:nvPr/>
        </p:nvSpPr>
        <p:spPr>
          <a:xfrm>
            <a:off x="593677" y="849536"/>
            <a:ext cx="11907671" cy="143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La Dashboard: Diagnostica dei Modelli</a:t>
            </a:r>
            <a:endParaRPr lang="it-IT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89B00A3B-780C-6581-6078-1334FA3EE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77" y="1744460"/>
            <a:ext cx="11597791" cy="555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27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8FB6-0637-8380-6D0A-5E614DAD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674D3CBF-D1E4-2620-1E72-6ED796796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0A0EAC38-1CAE-1551-87C5-0D19A7E3B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8809729"/>
          <a:ext cx="12801600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6451913" imgH="970662" progId="Photoshop.Image.13">
                  <p:embed/>
                </p:oleObj>
              </mc:Choice>
              <mc:Fallback>
                <p:oleObj name="Image" r:id="rId3" imgW="16451913" imgH="970662" progId="Photoshop.Image.13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9A00A226-E930-07AC-DE13-EA7588A40F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8809729"/>
                        <a:ext cx="12801600" cy="754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DAC8D97-1166-C310-8E29-6C694D730D64}"/>
              </a:ext>
            </a:extLst>
          </p:cNvPr>
          <p:cNvSpPr txBox="1"/>
          <p:nvPr/>
        </p:nvSpPr>
        <p:spPr>
          <a:xfrm>
            <a:off x="593677" y="849536"/>
            <a:ext cx="11907671" cy="143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Helvetica"/>
              </a:rPr>
              <a:t>La Dashboard: Analisi di Sensitività</a:t>
            </a:r>
            <a:endParaRPr lang="it-IT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216138F-B461-4669-6D4C-B8AF6D12F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741" y="1538685"/>
            <a:ext cx="11245585" cy="43435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BF9E05F-62BF-031A-9E7A-59EB5140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41" y="5953885"/>
            <a:ext cx="1948670" cy="268401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C2053EE0-B090-0C85-9E81-40979C70B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384" y="6242219"/>
            <a:ext cx="9157475" cy="215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525F8-D7F9-A175-E58C-D6D8A563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9FD50055-1E4B-ABF8-E0ED-A30481773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2FD4209E-353F-22CA-3D1F-8BA916931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8809729"/>
          <a:ext cx="12801600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6451913" imgH="970662" progId="Photoshop.Image.13">
                  <p:embed/>
                </p:oleObj>
              </mc:Choice>
              <mc:Fallback>
                <p:oleObj name="Image" r:id="rId3" imgW="16451913" imgH="970662" progId="Photoshop.Image.13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22E3F2CE-5F67-8E23-91B3-34C9C3861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8809729"/>
                        <a:ext cx="12801600" cy="754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7AF937-C033-CA5E-AFD0-7600B1EAC2C7}"/>
              </a:ext>
            </a:extLst>
          </p:cNvPr>
          <p:cNvSpPr txBox="1"/>
          <p:nvPr/>
        </p:nvSpPr>
        <p:spPr>
          <a:xfrm>
            <a:off x="736978" y="1419367"/>
            <a:ext cx="11518712" cy="5815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1">
                <a:solidFill>
                  <a:srgbClr val="C00000"/>
                </a:solidFill>
                <a:latin typeface="Helvetica"/>
              </a:rPr>
              <a:t>A cosa serve: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Programmare gli interventi di messa in sicurezza dove il beneficio atteso è massimo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Quantificare il costo sociale evitabile per ogni sito: base oggettiva per analisi costi-benefici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Monitorare l'evoluzione della sicurezza nel tempo: ricalcolando periodicamente la classifica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Esplorare scenari alternativi variando i pesi (es. priorità Vision Zero sugli utenti vulnerabili)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1">
                <a:solidFill>
                  <a:srgbClr val="C00000"/>
                </a:solidFill>
                <a:latin typeface="Helvetica"/>
              </a:rPr>
              <a:t>Cosa serve affinché lo strumento funzioni al meglio: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Qualità della geolocalizzazione degli incidenti: è il fattore più critico. Incidenti mal posizionati vengono associati a siti sbagliati, distorcendo le stime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Distinzione feriti gravi / lievi nel database: attualmente assente, limita la precisione della componente di severità e dei costi sociali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Aggiornamento periodico dei dati TomTom: i flussi di traffico cambiano e il modello va alimentato con dati aggiornati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C00000"/>
                </a:solidFill>
                <a:latin typeface="Helvetica"/>
              </a:rPr>
              <a:t>  •  Copertura completa del grafo PGTU: per classificare correttamente ogni tratto stradale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FB417F-2F41-8EEB-30C2-99BFAD26739C}"/>
              </a:ext>
            </a:extLst>
          </p:cNvPr>
          <p:cNvSpPr txBox="1"/>
          <p:nvPr/>
        </p:nvSpPr>
        <p:spPr>
          <a:xfrm>
            <a:off x="859809" y="624317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Helvetica"/>
              </a:rPr>
              <a:t>Applicazioni e Requisiti</a:t>
            </a:r>
          </a:p>
        </p:txBody>
      </p:sp>
    </p:spTree>
    <p:extLst>
      <p:ext uri="{BB962C8B-B14F-4D97-AF65-F5344CB8AC3E}">
        <p14:creationId xmlns:p14="http://schemas.microsoft.com/office/powerpoint/2010/main" val="4145758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3341</TotalTime>
  <Words>792</Words>
  <Application>Microsoft Office PowerPoint</Application>
  <PresentationFormat>Formato A3 (297x420 mm)</PresentationFormat>
  <Paragraphs>58</Paragraphs>
  <Slides>15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Helvetica</vt:lpstr>
      <vt:lpstr>Wingdings</vt:lpstr>
      <vt:lpstr>Tema di Office</vt:lpstr>
      <vt:lpstr>Image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Marisdea Castiglione</dc:creator>
  <cp:lastModifiedBy>Marisdea Castiglione</cp:lastModifiedBy>
  <cp:revision>6</cp:revision>
  <dcterms:created xsi:type="dcterms:W3CDTF">2026-04-15T08:36:22Z</dcterms:created>
  <dcterms:modified xsi:type="dcterms:W3CDTF">2026-05-13T14:33:31Z</dcterms:modified>
</cp:coreProperties>
</file>